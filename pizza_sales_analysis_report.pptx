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58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6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0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4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3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1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7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6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5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8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6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933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679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54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90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AE119-3E74-4BDE-B7EF-7B81F44D452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pizzasales1/Home?:language=en-GB&amp;:sid=&amp;:redirect=auth&amp;:display_count=n&amp;:origin=viz_share_lin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D53348-5DF1-6591-8FBF-925340CC48AD}"/>
              </a:ext>
            </a:extLst>
          </p:cNvPr>
          <p:cNvSpPr/>
          <p:nvPr/>
        </p:nvSpPr>
        <p:spPr>
          <a:xfrm>
            <a:off x="771007" y="515065"/>
            <a:ext cx="912598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Narrow" panose="020B0004020202020204" pitchFamily="34" charset="0"/>
              </a:rPr>
              <a:t>Pizza Sales Analysis Interactive Dashboard Report</a:t>
            </a:r>
          </a:p>
          <a:p>
            <a:pPr algn="ctr"/>
            <a:r>
              <a:rPr lang="en-US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Narrow" panose="020B0004020202020204" pitchFamily="34" charset="0"/>
              </a:rPr>
              <a:t>By: Shefa’ </a:t>
            </a:r>
            <a:r>
              <a:rPr lang="en-US" sz="5400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Narrow" panose="020B0004020202020204" pitchFamily="34" charset="0"/>
              </a:rPr>
              <a:t>Alkilany</a:t>
            </a:r>
            <a:endParaRPr lang="en-US" sz="5400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Narrow" panose="020B0004020202020204" pitchFamily="34" charset="0"/>
            </a:endParaRPr>
          </a:p>
        </p:txBody>
      </p:sp>
      <p:pic>
        <p:nvPicPr>
          <p:cNvPr id="1028" name="Picture 4" descr="8 Latest Sales Trends to Follow in 2026">
            <a:extLst>
              <a:ext uri="{FF2B5EF4-FFF2-40B4-BE49-F238E27FC236}">
                <a16:creationId xmlns:a16="http://schemas.microsoft.com/office/drawing/2014/main" id="{90BFCE23-88E7-0CC8-91CF-53E150433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3210223"/>
            <a:ext cx="5876927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zza Slice Cartoon Images – Browse 84,499 Stock Photos, Vectors, and Video  | Adobe Stock">
            <a:extLst>
              <a:ext uri="{FF2B5EF4-FFF2-40B4-BE49-F238E27FC236}">
                <a16:creationId xmlns:a16="http://schemas.microsoft.com/office/drawing/2014/main" id="{513222D3-88A8-FF73-6DBD-7CB627D1F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3100388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29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C64B46-4964-0E70-7CFD-CDB2C6D7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18109" r="15742" b="14566"/>
          <a:stretch>
            <a:fillRect/>
          </a:stretch>
        </p:blipFill>
        <p:spPr>
          <a:xfrm>
            <a:off x="0" y="0"/>
            <a:ext cx="12192000" cy="680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3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B22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Text"/>
          <p:cNvSpPr txBox="1"/>
          <p:nvPr/>
        </p:nvSpPr>
        <p:spPr>
          <a:xfrm>
            <a:off x="457200" y="0"/>
            <a:ext cx="9500000" cy="1005840"/>
          </a:xfrm>
          <a:prstGeom prst="rect">
            <a:avLst/>
          </a:prstGeom>
          <a:noFill/>
        </p:spPr>
        <p:txBody>
          <a:bodyPr wrap="square" lIns="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mbria" panose="02020400000000000000" pitchFamily="18" charset="0"/>
              </a:rPr>
              <a:t>Key Analysis &amp; Insights</a:t>
            </a:r>
          </a:p>
        </p:txBody>
      </p:sp>
      <p:sp>
        <p:nvSpPr>
          <p:cNvPr id="20" name="KPI1"/>
          <p:cNvSpPr/>
          <p:nvPr/>
        </p:nvSpPr>
        <p:spPr>
          <a:xfrm>
            <a:off x="457200" y="1234440"/>
            <a:ext cx="2145792" cy="1188720"/>
          </a:xfrm>
          <a:prstGeom prst="roundRect">
            <a:avLst>
              <a:gd name="adj" fmla="val 8000"/>
            </a:avLst>
          </a:prstGeom>
          <a:solidFill>
            <a:srgbClr val="FCEEE1"/>
          </a:solidFill>
          <a:ln w="9525">
            <a:solidFill>
              <a:srgbClr val="FFBD47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en-US" sz="2400" b="1" dirty="0">
                <a:solidFill>
                  <a:srgbClr val="E84C22"/>
                </a:solidFill>
                <a:latin typeface="Calibri" pitchFamily="34" charset="0"/>
              </a:rPr>
              <a:t>$817.9K</a:t>
            </a:r>
          </a:p>
          <a:p>
            <a:pPr algn="ctr"/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Total Revenue</a:t>
            </a:r>
          </a:p>
        </p:txBody>
      </p:sp>
      <p:sp>
        <p:nvSpPr>
          <p:cNvPr id="21" name="KPI2"/>
          <p:cNvSpPr/>
          <p:nvPr/>
        </p:nvSpPr>
        <p:spPr>
          <a:xfrm>
            <a:off x="2740152" y="1234440"/>
            <a:ext cx="2145792" cy="1188720"/>
          </a:xfrm>
          <a:prstGeom prst="roundRect">
            <a:avLst>
              <a:gd name="adj" fmla="val 8000"/>
            </a:avLst>
          </a:prstGeom>
          <a:solidFill>
            <a:srgbClr val="FCEEE1"/>
          </a:solidFill>
          <a:ln w="9525">
            <a:solidFill>
              <a:srgbClr val="FFBD47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en-US" sz="2400" b="1" dirty="0">
                <a:solidFill>
                  <a:srgbClr val="E84C22"/>
                </a:solidFill>
                <a:latin typeface="Calibri" pitchFamily="34" charset="0"/>
              </a:rPr>
              <a:t>21.4K</a:t>
            </a:r>
          </a:p>
          <a:p>
            <a:pPr algn="ctr"/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Total Orders</a:t>
            </a:r>
          </a:p>
        </p:txBody>
      </p:sp>
      <p:sp>
        <p:nvSpPr>
          <p:cNvPr id="22" name="KPI3"/>
          <p:cNvSpPr/>
          <p:nvPr/>
        </p:nvSpPr>
        <p:spPr>
          <a:xfrm>
            <a:off x="5023104" y="1234440"/>
            <a:ext cx="2145792" cy="1188720"/>
          </a:xfrm>
          <a:prstGeom prst="roundRect">
            <a:avLst>
              <a:gd name="adj" fmla="val 8000"/>
            </a:avLst>
          </a:prstGeom>
          <a:solidFill>
            <a:srgbClr val="FCEEE1"/>
          </a:solidFill>
          <a:ln w="9525">
            <a:solidFill>
              <a:srgbClr val="FFBD47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en-US" sz="2400" b="1" dirty="0">
                <a:solidFill>
                  <a:srgbClr val="E84C22"/>
                </a:solidFill>
                <a:latin typeface="Calibri" pitchFamily="34" charset="0"/>
              </a:rPr>
              <a:t>49.6K</a:t>
            </a:r>
          </a:p>
          <a:p>
            <a:pPr algn="ctr"/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Pizzas Sold</a:t>
            </a:r>
          </a:p>
        </p:txBody>
      </p:sp>
      <p:sp>
        <p:nvSpPr>
          <p:cNvPr id="23" name="KPI4"/>
          <p:cNvSpPr/>
          <p:nvPr/>
        </p:nvSpPr>
        <p:spPr>
          <a:xfrm>
            <a:off x="7306056" y="1234440"/>
            <a:ext cx="2145792" cy="1188720"/>
          </a:xfrm>
          <a:prstGeom prst="roundRect">
            <a:avLst>
              <a:gd name="adj" fmla="val 8000"/>
            </a:avLst>
          </a:prstGeom>
          <a:solidFill>
            <a:srgbClr val="FCEEE1"/>
          </a:solidFill>
          <a:ln w="9525">
            <a:solidFill>
              <a:srgbClr val="FFBD47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en-US" sz="2400" b="1" dirty="0">
                <a:solidFill>
                  <a:srgbClr val="E84C22"/>
                </a:solidFill>
                <a:latin typeface="Calibri" pitchFamily="34" charset="0"/>
              </a:rPr>
              <a:t>$38.3</a:t>
            </a:r>
          </a:p>
          <a:p>
            <a:pPr algn="ctr"/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Avg Order Value</a:t>
            </a:r>
          </a:p>
        </p:txBody>
      </p:sp>
      <p:sp>
        <p:nvSpPr>
          <p:cNvPr id="24" name="KPI5"/>
          <p:cNvSpPr/>
          <p:nvPr/>
        </p:nvSpPr>
        <p:spPr>
          <a:xfrm>
            <a:off x="9589008" y="1234440"/>
            <a:ext cx="2145792" cy="1188720"/>
          </a:xfrm>
          <a:prstGeom prst="roundRect">
            <a:avLst>
              <a:gd name="adj" fmla="val 8000"/>
            </a:avLst>
          </a:prstGeom>
          <a:solidFill>
            <a:srgbClr val="FCEEE1"/>
          </a:solidFill>
          <a:ln w="9525">
            <a:solidFill>
              <a:srgbClr val="FFBD47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en-US" sz="2400" b="1" dirty="0">
                <a:solidFill>
                  <a:srgbClr val="E84C22"/>
                </a:solidFill>
                <a:latin typeface="Calibri" pitchFamily="34" charset="0"/>
              </a:rPr>
              <a:t>2.32</a:t>
            </a:r>
          </a:p>
          <a:p>
            <a:pPr algn="ctr"/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Avg Pizzas / Order</a:t>
            </a:r>
          </a:p>
        </p:txBody>
      </p:sp>
      <p:sp>
        <p:nvSpPr>
          <p:cNvPr id="30" name="LeftHeader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800" b="1" dirty="0">
                <a:solidFill>
                  <a:srgbClr val="B64926"/>
                </a:solidFill>
                <a:latin typeface="Cambria" panose="02020400000000000000" pitchFamily="18" charset="0"/>
              </a:rPr>
              <a:t>When Demand Peaks</a:t>
            </a:r>
          </a:p>
        </p:txBody>
      </p:sp>
      <p:sp>
        <p:nvSpPr>
          <p:cNvPr id="31" name="LeftBody"/>
          <p:cNvSpPr txBox="1"/>
          <p:nvPr/>
        </p:nvSpPr>
        <p:spPr>
          <a:xfrm>
            <a:off x="457200" y="3108960"/>
            <a:ext cx="5486400" cy="2468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</a:rPr>
              <a:t>Orders peak daily between 12–1 PM and again from 4–7 PM, matching the lunch and dinner rush.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</a:rPr>
              <a:t>Weekly order volume swings widely across the year, with the sharpest spike in week 48 (late November).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</a:rPr>
              <a:t>Staffing and prep should flex around these windows rather than assume steady demand through the day.</a:t>
            </a:r>
          </a:p>
        </p:txBody>
      </p:sp>
      <p:sp>
        <p:nvSpPr>
          <p:cNvPr id="32" name="RightHeader"/>
          <p:cNvSpPr txBox="1"/>
          <p:nvPr/>
        </p:nvSpPr>
        <p:spPr>
          <a:xfrm>
            <a:off x="6248400" y="2697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800" b="1" dirty="0">
                <a:solidFill>
                  <a:srgbClr val="B64926"/>
                </a:solidFill>
                <a:latin typeface="Cambria" panose="02020400000000000000" pitchFamily="18" charset="0"/>
              </a:rPr>
              <a:t>What Sells Best</a:t>
            </a:r>
          </a:p>
        </p:txBody>
      </p:sp>
      <p:sp>
        <p:nvSpPr>
          <p:cNvPr id="33" name="RightBody"/>
          <p:cNvSpPr txBox="1"/>
          <p:nvPr/>
        </p:nvSpPr>
        <p:spPr>
          <a:xfrm>
            <a:off x="6248400" y="3108960"/>
            <a:ext cx="5486400" cy="2468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</a:rPr>
              <a:t>Classic-style pizzas lead in both orders and pizzas sold, and edge out other categories in revenue at $220.05K (26.9%).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</a:rPr>
              <a:t>Large is the most popular size, driving 45.9% of orders, followed by Medium (30.5%) and Regular (21.8%).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</a:rPr>
              <a:t>Category revenue is fairly balanced overall — Supreme ($208.2K), Chicken ($195.9K) and Veggie ($193.7K) all trail Classic closely.</a:t>
            </a:r>
          </a:p>
        </p:txBody>
      </p:sp>
      <p:sp>
        <p:nvSpPr>
          <p:cNvPr id="40" name="TakeawayBar"/>
          <p:cNvSpPr/>
          <p:nvPr/>
        </p:nvSpPr>
        <p:spPr>
          <a:xfrm>
            <a:off x="0" y="5852160"/>
            <a:ext cx="12192000" cy="548640"/>
          </a:xfrm>
          <a:prstGeom prst="rect">
            <a:avLst/>
          </a:prstGeom>
          <a:solidFill>
            <a:srgbClr val="B6492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Takeaway: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Staff up for the midday and evening rushes, keep Large and Classic pizzas well stocked, and use the Best/Worst Sellers view to fine-tune the menu.</a:t>
            </a:r>
          </a:p>
        </p:txBody>
      </p:sp>
    </p:spTree>
    <p:extLst>
      <p:ext uri="{BB962C8B-B14F-4D97-AF65-F5344CB8AC3E}">
        <p14:creationId xmlns:p14="http://schemas.microsoft.com/office/powerpoint/2010/main" val="173295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F4CC3F-4BC9-259E-B32B-F78DD14F0A66}"/>
              </a:ext>
            </a:extLst>
          </p:cNvPr>
          <p:cNvSpPr txBox="1"/>
          <p:nvPr/>
        </p:nvSpPr>
        <p:spPr>
          <a:xfrm>
            <a:off x="1440273" y="3105834"/>
            <a:ext cx="7703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https://public.tableau.com/views/pizzasales1/Home?:language=en-GB&amp;:sid=&amp;:redirect=auth&amp;:display_count=n&amp;:origin=viz_share_link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6641EA-462A-4FBB-606E-D4A95C3E4EA4}"/>
              </a:ext>
            </a:extLst>
          </p:cNvPr>
          <p:cNvSpPr/>
          <p:nvPr/>
        </p:nvSpPr>
        <p:spPr>
          <a:xfrm>
            <a:off x="347539" y="1852910"/>
            <a:ext cx="54104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Dashboard Link: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092852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241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 Narrow</vt:lpstr>
      <vt:lpstr>Arial</vt:lpstr>
      <vt:lpstr>Calibri</vt:lpstr>
      <vt:lpstr>Cambria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Shefa Ali</dc:creator>
  <cp:lastModifiedBy>Shefa Ali</cp:lastModifiedBy>
  <cp:revision>2</cp:revision>
  <dcterms:created xsi:type="dcterms:W3CDTF">2026-04-27T03:27:43Z</dcterms:created>
  <dcterms:modified xsi:type="dcterms:W3CDTF">2026-09-08T08:47:08Z</dcterms:modified>
</cp:coreProperties>
</file>